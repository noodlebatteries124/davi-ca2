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6285B-D3C8-1ACA-309E-0587E7C5D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5321E-4F16-166A-A214-615642F55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DD04D-983B-8AED-330B-765377B62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8D4D5-67C4-768C-C32D-70869C455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3256B-157F-B9E7-9405-20EA2687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498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77A9-AEBC-A583-5657-D09B2B8E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99D9A-4BF4-47E5-D713-25D8784AF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94F0E-9EFF-EF68-B614-4120B701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32E2-87A2-F1AD-1B49-3FE764F5F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DC4CF-3812-5886-5F97-42504256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2562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6DCD-EEB8-9FF0-4C03-11674B93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3F7A5-DAE2-D14E-E232-F679C6C9A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3932B-81EE-1A6B-7A49-749304F52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F95D9-F1F0-983E-9307-B8CC8F6D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14677-510A-C758-D09C-1ACD07F9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698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0F76-FBC0-58FE-35A8-BD7A36D0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7E97-7AB0-36FF-CE07-7D5D97034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A1E0D-5566-1B0E-6B3C-2257782C3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4CEDF-35BB-7FB8-2F64-0E1C72637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0158C-1F8D-93DC-D73A-0E26F8FF2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4663F-7EC4-984B-AE7A-1CD3C16A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029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C73FA-E35B-AA80-E059-24D3766D5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EA330-F283-3052-9BB8-E00DEA440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1371E-5640-2598-FB0D-08810BDB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119BF-61BC-3A00-75F3-C7704ECF4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1DEA5-9221-A30E-EBEB-038B57B7B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DB3F5-57BD-ACAA-1155-2FE820086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4A24E-7B6A-3D87-0BD9-E3AEA659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593A9E-690C-9862-2BDA-51E6A77F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05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6428-B523-0514-B44D-69FA158BF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2048A-BA2A-168C-8337-7137E88C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D16FA-76FD-C5DB-0F85-AE59E453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EAA12-0346-2A58-6DF2-453C4B6C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524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58619-3D82-E1BE-D520-C1A4FFCF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D24870-2412-8713-7F03-E68F4B2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CCA5A-A9A7-B1AF-0CE3-81F0A956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562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89AD-4EEB-0798-FC43-D38935F02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48CBD-E2FD-4FC9-6C17-67AC47C76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0524F-18E5-855C-7A6A-41666B52D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F324D-CA4E-3CCF-F0B6-0127A7F6E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E818E-A521-BC09-FC46-3A3346983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34246-8CC5-0D8F-AA70-E96AE560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5611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4A8CC-7664-0DD8-FFCB-1AF110F55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E5130E-5A83-F718-24A1-455A72AD8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B6403-627F-24F6-5C45-B87C42D95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E76A8-0F1B-C226-BC1B-0FDA7F3C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7355E-63D1-5E75-1718-59D32F5F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65571-D389-0257-4022-B8B996364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679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AFAEF-69E9-A295-18CB-484A9341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16BDA-0CE3-CCE0-AE3D-C295DF2DF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187E2-37FD-65DB-481D-7D70E855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68CA4-566C-A6F6-99EA-7CAD4C0C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90FD6-E66B-B159-2CEB-D35F27BA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898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B97AD-47CC-F6C8-F05A-DF5B050EB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2B39C-B80A-E850-8676-E254DF465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174DB-9F4F-45C5-B17E-52331968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15A50-4E12-C88E-3084-C33B9E02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321B-D3F7-6931-500A-E8FEFF12E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382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39695-69B9-6CE2-2D43-06E45B6F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0E4F8-6277-FD8A-5677-5BC56898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CC2F7-B42A-9904-A11B-EA1182E0B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E9D0A-4350-498E-80B9-A62E3FC46891}" type="datetimeFigureOut">
              <a:rPr lang="en-SG" smtClean="0"/>
              <a:t>9/7/2026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5976F-F49B-7CA3-A05B-9C7F74311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243FD-3813-8EAB-DF41-69353BF39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290BC-18D0-44A6-9194-AFDBBFACBB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674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5DCC-182C-67A0-1061-92E2A418C2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DAVI </a:t>
            </a:r>
            <a:br>
              <a:rPr lang="en-US" dirty="0"/>
            </a:br>
            <a:r>
              <a:rPr lang="en-SG" dirty="0"/>
              <a:t>AY2627 Sem1</a:t>
            </a:r>
            <a:br>
              <a:rPr lang="en-SG" dirty="0"/>
            </a:br>
            <a:r>
              <a:rPr lang="en-SG" dirty="0"/>
              <a:t>CA2: Data Analytics on IT Systems Integrator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5E2FB-504D-36BE-B037-A7485B4D2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P2518127 GAN HAO ERN</a:t>
            </a:r>
          </a:p>
          <a:p>
            <a:r>
              <a:rPr lang="en-US" dirty="0"/>
              <a:t>P2518031 Phan Jun Hao	</a:t>
            </a:r>
          </a:p>
          <a:p>
            <a:r>
              <a:rPr lang="en-US" dirty="0" err="1"/>
              <a:t>pXXXXXXX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4545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19C2-8925-06BE-C10F-A3E0BCEA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509" y="-249599"/>
            <a:ext cx="10515600" cy="1325563"/>
          </a:xfrm>
        </p:spPr>
        <p:txBody>
          <a:bodyPr/>
          <a:lstStyle/>
          <a:p>
            <a:r>
              <a:rPr lang="en-US" dirty="0"/>
              <a:t>Objective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A4ED7-9309-4E50-55F7-52D4A74F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1200727"/>
            <a:ext cx="11548872" cy="5486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dirty="0"/>
              <a:t>“To determine which client segments generate the highest gross profit while maintaining strong customer satisfaction” (enabling the company to prioritize high-value clients, improve client retention, and support sustainable business growth)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Key points (subproblems)</a:t>
            </a:r>
          </a:p>
          <a:p>
            <a:pPr marL="514350" indent="-514350">
              <a:buAutoNum type="arabicPeriod"/>
            </a:pPr>
            <a:r>
              <a:rPr lang="en-SG" b="1" dirty="0"/>
              <a:t>Profitability by client segment</a:t>
            </a:r>
            <a:r>
              <a:rPr lang="en-SG" dirty="0"/>
              <a:t>: </a:t>
            </a:r>
            <a:r>
              <a:rPr lang="en-SG" dirty="0" err="1"/>
              <a:t>Analyze</a:t>
            </a:r>
            <a:r>
              <a:rPr lang="en-SG" dirty="0"/>
              <a:t> gross profit and gross margin across: Client type, Industry sector, Organization size, Location to identify the most valuable client segments from a financial perspective.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SG" b="1" dirty="0"/>
              <a:t>Drivers of profitability</a:t>
            </a:r>
            <a:r>
              <a:rPr lang="en-SG" dirty="0"/>
              <a:t>: Investigate hardware costs, software costs, manpower costs and low-scoring service dimensions highlighting opportunities for cost optimization and margin improvement.</a:t>
            </a:r>
          </a:p>
        </p:txBody>
      </p:sp>
    </p:spTree>
    <p:extLst>
      <p:ext uri="{BB962C8B-B14F-4D97-AF65-F5344CB8AC3E}">
        <p14:creationId xmlns:p14="http://schemas.microsoft.com/office/powerpoint/2010/main" val="403520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3637F-E5A6-8B79-C639-8C8ECA9BB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-152546"/>
            <a:ext cx="10515600" cy="1325563"/>
          </a:xfrm>
        </p:spPr>
        <p:txBody>
          <a:bodyPr/>
          <a:lstStyle/>
          <a:p>
            <a:r>
              <a:rPr lang="en-US" dirty="0"/>
              <a:t>Objective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FEFF8-E808-9D9D-5499-B8CA3262F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5" y="951344"/>
            <a:ext cx="11402290" cy="5572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3. </a:t>
            </a:r>
            <a:r>
              <a:rPr lang="en-SG" b="1" dirty="0"/>
              <a:t>Satisfaction by client segment</a:t>
            </a:r>
            <a:r>
              <a:rPr lang="en-SG" dirty="0"/>
              <a:t>: </a:t>
            </a:r>
            <a:r>
              <a:rPr lang="en-SG" dirty="0" err="1"/>
              <a:t>Analyze</a:t>
            </a:r>
            <a:r>
              <a:rPr lang="en-SG" dirty="0"/>
              <a:t> survey ratings for: Presales &amp; Partnership, Technical Expertise, Project Delivery, Post-Sales Support, NPS and to identify segments with consistently high or low satisfaction.</a:t>
            </a:r>
          </a:p>
          <a:p>
            <a:pPr marL="0" indent="0">
              <a:buNone/>
            </a:pPr>
            <a:r>
              <a:rPr lang="en-SG" dirty="0"/>
              <a:t>4. </a:t>
            </a:r>
            <a:r>
              <a:rPr lang="en-SG" b="1" dirty="0"/>
              <a:t>Drivers of satisfaction: </a:t>
            </a:r>
            <a:r>
              <a:rPr lang="en-SG" dirty="0"/>
              <a:t>Analyse Presales &amp; Partnership, Technical Expertise, Project Delivery, Post-Sales Support to identify where service improvements will have the greatest effect on satisfaction and loyalty.</a:t>
            </a:r>
          </a:p>
          <a:p>
            <a:pPr marL="0" indent="0">
              <a:buNone/>
            </a:pPr>
            <a:r>
              <a:rPr lang="en-SG" dirty="0"/>
              <a:t>5. </a:t>
            </a:r>
            <a:r>
              <a:rPr lang="en-SG" b="1" dirty="0"/>
              <a:t>Satisfaction–profitability relationship</a:t>
            </a:r>
            <a:r>
              <a:rPr lang="en-SG" dirty="0"/>
              <a:t>: </a:t>
            </a:r>
            <a:r>
              <a:rPr lang="en-SG" dirty="0" err="1"/>
              <a:t>Analyze</a:t>
            </a:r>
            <a:r>
              <a:rPr lang="en-SG" dirty="0"/>
              <a:t> Satisfaction vs Gross Profit, NPS vs Gross Margin, Satisfaction vs Revenue to check whether improving customer satisfaction translates into stronger business performance.</a:t>
            </a:r>
          </a:p>
          <a:p>
            <a:pPr marL="0" indent="0">
              <a:buNone/>
            </a:pPr>
            <a:r>
              <a:rPr lang="en-SG" dirty="0"/>
              <a:t>6. </a:t>
            </a:r>
            <a:r>
              <a:rPr lang="en-SG" b="1" dirty="0"/>
              <a:t>Strategic client prioritization: </a:t>
            </a:r>
            <a:r>
              <a:rPr lang="en-SG" dirty="0"/>
              <a:t>Analyse profit ranges and satisfaction ranges (e.g. high </a:t>
            </a:r>
            <a:r>
              <a:rPr lang="en-SG" dirty="0" err="1"/>
              <a:t>profit+low</a:t>
            </a:r>
            <a:r>
              <a:rPr lang="en-SG" dirty="0"/>
              <a:t> satisfaction, low </a:t>
            </a:r>
            <a:r>
              <a:rPr lang="en-SG" dirty="0" err="1"/>
              <a:t>profit+low</a:t>
            </a:r>
            <a:r>
              <a:rPr lang="en-SG" dirty="0"/>
              <a:t> satisfaction etc) at a variety of combinations to </a:t>
            </a:r>
            <a:r>
              <a:rPr lang="en-US" dirty="0"/>
              <a:t>find the best opportunities and greatest risks.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438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278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DAVI  AY2627 Sem1 CA2: Data Analytics on IT Systems Integrator </vt:lpstr>
      <vt:lpstr>Objective</vt:lpstr>
      <vt:lpstr>Objective (cont)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 JUN HAO</dc:creator>
  <cp:lastModifiedBy>PHAN JUN HAO</cp:lastModifiedBy>
  <cp:revision>4</cp:revision>
  <dcterms:created xsi:type="dcterms:W3CDTF">2026-07-06T06:06:43Z</dcterms:created>
  <dcterms:modified xsi:type="dcterms:W3CDTF">2026-07-09T04:05:03Z</dcterms:modified>
</cp:coreProperties>
</file>